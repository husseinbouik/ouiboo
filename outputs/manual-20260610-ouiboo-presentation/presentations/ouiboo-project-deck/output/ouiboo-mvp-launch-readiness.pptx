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f180f59b047a4" /><Relationship Type="http://schemas.openxmlformats.org/officeDocument/2006/relationships/extended-properties" Target="/docProps/app.xml" Id="R76ff7c47b3734e94" /><Relationship Type="http://schemas.openxmlformats.org/officeDocument/2006/relationships/officeDocument" Target="/ppt/presentation.xml" Id="R239ca06acab74b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1a488640ed4de6"/>
  </p:sldMasterIdLst>
  <p:notesMasterIdLst>
    <p:notesMasterId xmlns:r="http://schemas.openxmlformats.org/officeDocument/2006/relationships" r:id="R563c08b3026f4ede"/>
  </p:notesMasterIdLst>
  <p:sldIdLst>
    <p:sldId xmlns:r="http://schemas.openxmlformats.org/officeDocument/2006/relationships" id="256" r:id="R10d530e7d0834799"/>
    <p:sldId xmlns:r="http://schemas.openxmlformats.org/officeDocument/2006/relationships" id="257" r:id="R6f3dae5b928d4ace"/>
    <p:sldId xmlns:r="http://schemas.openxmlformats.org/officeDocument/2006/relationships" id="258" r:id="R085558d35cdf46a3"/>
    <p:sldId xmlns:r="http://schemas.openxmlformats.org/officeDocument/2006/relationships" id="259" r:id="R1ea9f8a9cd1c46dc"/>
    <p:sldId xmlns:r="http://schemas.openxmlformats.org/officeDocument/2006/relationships" id="260" r:id="R75f134a632cc43af"/>
    <p:sldId xmlns:r="http://schemas.openxmlformats.org/officeDocument/2006/relationships" id="261" r:id="R963fa67c488a49cf"/>
    <p:sldId xmlns:r="http://schemas.openxmlformats.org/officeDocument/2006/relationships" id="262" r:id="R7c7c7fa8f8f84145"/>
    <p:sldId xmlns:r="http://schemas.openxmlformats.org/officeDocument/2006/relationships" id="263" r:id="R8366de2ee00148a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5577ff1844003" /><Relationship Type="http://schemas.openxmlformats.org/officeDocument/2006/relationships/slideMaster" Target="/ppt/slideMasters/slideMaster1.xml" Id="Rc91a488640ed4de6" /><Relationship Type="http://schemas.openxmlformats.org/officeDocument/2006/relationships/notesMaster" Target="/ppt/notesMasters/notesMaster1.xml" Id="R563c08b3026f4ede" /><Relationship Type="http://schemas.openxmlformats.org/officeDocument/2006/relationships/presProps" Target="/ppt/presProps.xml" Id="R54bc7aa025784222" /><Relationship Type="http://schemas.openxmlformats.org/officeDocument/2006/relationships/viewProps" Target="/ppt/viewProps.xml" Id="R0e07fa00f56c42f0" /><Relationship Type="http://schemas.openxmlformats.org/officeDocument/2006/relationships/tableStyles" Target="/ppt/tableStyles.xml" Id="R5afcd8744d204375" /><Relationship Type="http://schemas.openxmlformats.org/officeDocument/2006/relationships/slide" Target="/ppt/slides/slide1.xml" Id="R10d530e7d0834799" /><Relationship Type="http://schemas.openxmlformats.org/officeDocument/2006/relationships/slide" Target="/ppt/slides/slide2.xml" Id="R6f3dae5b928d4ace" /><Relationship Type="http://schemas.openxmlformats.org/officeDocument/2006/relationships/slide" Target="/ppt/slides/slide3.xml" Id="R085558d35cdf46a3" /><Relationship Type="http://schemas.openxmlformats.org/officeDocument/2006/relationships/slide" Target="/ppt/slides/slide4.xml" Id="R1ea9f8a9cd1c46dc" /><Relationship Type="http://schemas.openxmlformats.org/officeDocument/2006/relationships/slide" Target="/ppt/slides/slide5.xml" Id="R75f134a632cc43af" /><Relationship Type="http://schemas.openxmlformats.org/officeDocument/2006/relationships/slide" Target="/ppt/slides/slide6.xml" Id="R963fa67c488a49cf" /><Relationship Type="http://schemas.openxmlformats.org/officeDocument/2006/relationships/slide" Target="/ppt/slides/slide7.xml" Id="R7c7c7fa8f8f84145" /><Relationship Type="http://schemas.openxmlformats.org/officeDocument/2006/relationships/slide" Target="/ppt/slides/slide8.xml" Id="R8366de2ee00148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7d4ac95e924e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31bf82d79d42ae" /><Relationship Type="http://schemas.openxmlformats.org/officeDocument/2006/relationships/notesMaster" Target="/ppt/notesMasters/notesMaster1.xml" Id="Rfdeecb57b3d145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fafeb862a64bfd" /><Relationship Type="http://schemas.openxmlformats.org/officeDocument/2006/relationships/notesMaster" Target="/ppt/notesMasters/notesMaster1.xml" Id="R11ea2b71e148457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7fb549984042c1" /><Relationship Type="http://schemas.openxmlformats.org/officeDocument/2006/relationships/notesMaster" Target="/ppt/notesMasters/notesMaster1.xml" Id="R30139dae482741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070e98e41a47f0" /><Relationship Type="http://schemas.openxmlformats.org/officeDocument/2006/relationships/notesMaster" Target="/ppt/notesMasters/notesMaster1.xml" Id="R8498ad23374a4d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f76efeb9a949a6" /><Relationship Type="http://schemas.openxmlformats.org/officeDocument/2006/relationships/notesMaster" Target="/ppt/notesMasters/notesMaster1.xml" Id="R7ca1344ea2244d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d9770f14fb4906" /><Relationship Type="http://schemas.openxmlformats.org/officeDocument/2006/relationships/notesMaster" Target="/ppt/notesMasters/notesMaster1.xml" Id="R97c85e08e1e742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5f531967ac4306" /><Relationship Type="http://schemas.openxmlformats.org/officeDocument/2006/relationships/notesMaster" Target="/ppt/notesMasters/notesMaster1.xml" Id="Re87cb6526d5042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165c0e920e43da" /><Relationship Type="http://schemas.openxmlformats.org/officeDocument/2006/relationships/notesMaster" Target="/ppt/notesMasters/notesMaster1.xml" Id="R199204c1929241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9aa4e8d0343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cb4aae05b74dfb" /><Relationship Type="http://schemas.openxmlformats.org/officeDocument/2006/relationships/slideLayout" Target="/ppt/slideLayouts/slideLayout1.xml" Id="R64fb4fe541d945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fb4fe541d945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4966a05ab4714" /><Relationship Type="http://schemas.openxmlformats.org/officeDocument/2006/relationships/notesSlide" Target="/ppt/notesSlides/notesSlide1.xml" Id="R51fcf66a79d945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f88089c5440b2" /><Relationship Type="http://schemas.openxmlformats.org/officeDocument/2006/relationships/notesSlide" Target="/ppt/notesSlides/notesSlide2.xml" Id="R6876da931a644e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2497a872942ae" /><Relationship Type="http://schemas.openxmlformats.org/officeDocument/2006/relationships/notesSlide" Target="/ppt/notesSlides/notesSlide3.xml" Id="Rf97338ae91844d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83430e0c242cb" /><Relationship Type="http://schemas.openxmlformats.org/officeDocument/2006/relationships/notesSlide" Target="/ppt/notesSlides/notesSlide4.xml" Id="Rb3bbb622b78348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c840a15334188" /><Relationship Type="http://schemas.openxmlformats.org/officeDocument/2006/relationships/notesSlide" Target="/ppt/notesSlides/notesSlide5.xml" Id="R36a7258f560645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f14272a4b4080" /><Relationship Type="http://schemas.openxmlformats.org/officeDocument/2006/relationships/notesSlide" Target="/ppt/notesSlides/notesSlide6.xml" Id="R9fb649c06e174e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2f4e1cfc04f36" /><Relationship Type="http://schemas.openxmlformats.org/officeDocument/2006/relationships/notesSlide" Target="/ppt/notesSlides/notesSlide7.xml" Id="Ra5ad2e1a2e74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d0cbf550e4ae2" /><Relationship Type="http://schemas.openxmlformats.org/officeDocument/2006/relationships/notesSlide" Target="/ppt/notesSlides/notesSlide8.xml" Id="R930ad965faa64a4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D86326-3630-4F2D-B6B3-34F596A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CD658-5D8C-45F1-989D-E878E6B1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14213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6AF96-EDFF-49E7-9A6D-24DB28E6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317C7-18D5-4189-A912-CC00CECD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E9C46A"/>
                </a:solidFill>
              </a:defRPr>
            </a:pPr>
            <a:r>
              <a:rPr sz="1350" b="1" i="0">
                <a:solidFill>
                  <a:srgbClr val="E9C46A"/>
                </a:solidFill>
              </a:rPr>
              <a:t>OUIBOO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A04F60-F8C9-454B-AE84-E2263EB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7810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 i="0">
                <a:solidFill>
                  <a:srgbClr val="F7F3EA"/>
                </a:solidFill>
              </a:defRPr>
            </a:pPr>
            <a:r>
              <a:rPr sz="3900" b="1" i="0">
                <a:solidFill>
                  <a:srgbClr val="F7F3EA"/>
                </a:solidFill>
              </a:rPr>
              <a:t>MVP launch readiness and production-hardening 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7E293-8431-47B9-8278-F39D471B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6953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E7E2D8"/>
                </a:solidFill>
              </a:defRPr>
            </a:pPr>
            <a:r>
              <a:rPr sz="1575" b="0" i="0">
                <a:solidFill>
                  <a:srgbClr val="E7E2D8"/>
                </a:solidFill>
              </a:rPr>
              <a:t>A concise project presentation for the travel marketplace platform: product shape, architecture, hardening completed, verified demo path, and remaining public-production blockers.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89FF27-DE35-40E8-A341-73E0E0C8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149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3A77E-9E65-4BE3-9B5A-68858547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054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7F3EA"/>
                </a:solidFill>
              </a:defRPr>
            </a:pPr>
            <a:r>
              <a:rPr sz="2550" b="1" i="0">
                <a:solidFill>
                  <a:srgbClr val="F7F3EA"/>
                </a:solidFill>
              </a:rPr>
              <a:t>82%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56007-DC8B-4446-BAF6-FEDA89E6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5816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D8D1C3"/>
                </a:solidFill>
              </a:defRPr>
            </a:pPr>
            <a:r>
              <a:rPr sz="975" b="0" i="0">
                <a:solidFill>
                  <a:srgbClr val="D8D1C3"/>
                </a:solidFill>
              </a:rPr>
              <a:t>controlled MVP demo readiness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887D6-24C1-4846-A031-31858547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454D9A-584E-413C-B36C-5E296602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1054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7F3EA"/>
                </a:solidFill>
              </a:defRPr>
            </a:pPr>
            <a:r>
              <a:rPr sz="2550" b="1" i="0">
                <a:solidFill>
                  <a:srgbClr val="F7F3EA"/>
                </a:solidFill>
              </a:rPr>
              <a:t>74%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0D16B-1544-449D-A295-083C8108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5816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D8D1C3"/>
                </a:solidFill>
              </a:defRPr>
            </a:pPr>
            <a:r>
              <a:rPr sz="975" b="0" i="0">
                <a:solidFill>
                  <a:srgbClr val="D8D1C3"/>
                </a:solidFill>
              </a:rPr>
              <a:t>public production readiness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D542C-6B51-459C-A5DF-BEEFFEB5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149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66A6A-9665-4CFB-8927-DE66287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1054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7F3EA"/>
                </a:solidFill>
              </a:defRPr>
            </a:pPr>
            <a:r>
              <a:rPr sz="2550" b="1" i="0">
                <a:solidFill>
                  <a:srgbClr val="F7F3EA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D1090-8AD6-4C68-849C-A768F0D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581650"/>
            <a:ext cx="114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D8D1C3"/>
                </a:solidFill>
              </a:defRPr>
            </a:pPr>
            <a:r>
              <a:rPr sz="975" b="0" i="0">
                <a:solidFill>
                  <a:srgbClr val="D8D1C3"/>
                </a:solidFill>
              </a:rPr>
              <a:t>high audit vulnerabilities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723DE2-72EC-4967-87E6-BB332E11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D8D1C3"/>
                </a:solidFill>
              </a:defRPr>
            </a:pPr>
            <a:r>
              <a:rPr sz="1050" b="0" i="0">
                <a:solidFill>
                  <a:srgbClr val="D8D1C3"/>
                </a:solidFill>
              </a:rPr>
              <a:t>June 10,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787015-45C2-476A-923F-90462F43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9D714-9C99-4ADE-B8AB-56F45738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52278-EB59-4F1C-BE83-CB8D4FC8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42816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CEE63-2CBC-45E5-956A-71FDA0DB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035D034-D275-4C9E-99B7-5970084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381726ED-A06B-43AF-8502-C3CE7A6D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PRODUCT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C24E8-143D-4FB6-87B0-687F13FB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4213D"/>
                </a:solidFill>
              </a:defRPr>
            </a:pPr>
            <a:r>
              <a:rPr sz="3000" b="1" i="0">
                <a:solidFill>
                  <a:srgbClr val="14213D"/>
                </a:solidFill>
              </a:rPr>
              <a:t>Ouiboo organizes travel demand, agency supply, and platform governance into one marketplace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B8C86-C679-4EE1-B5C7-C34E81F3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C6A61"/>
                </a:solidFill>
              </a:defRPr>
            </a:pPr>
            <a:r>
              <a:rPr sz="1275" b="0" i="0">
                <a:solidFill>
                  <a:srgbClr val="6C6A61"/>
                </a:solidFill>
              </a:rPr>
              <a:t>The platform is not a single storefront; it is three role-specific applications coordinated by one API, one data model, and financial controls.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A7E95-D02F-482F-99D3-B1F74C07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9BAB8-385F-4EF9-A7CE-6D510723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325BB-3A88-457B-B7B2-6FB9A6E3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13D"/>
                </a:solidFill>
              </a:defRPr>
            </a:pPr>
            <a:r>
              <a:rPr sz="2025" b="1" i="0">
                <a:solidFill>
                  <a:srgbClr val="14213D"/>
                </a:solidFill>
              </a:rPr>
              <a:t>Traveler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2ECFC-6361-4900-A153-1F556CBB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00450"/>
            <a:ext cx="2476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Search trips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Book sessions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Pay securely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Review + wishlist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C8478-5633-4761-B826-DAC2525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9C4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E2F811-9F9C-491B-AC49-24C6E214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384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E9C4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8F7DE-C6CB-4566-8296-61B324AC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05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13D"/>
                </a:solidFill>
              </a:defRPr>
            </a:pPr>
            <a:r>
              <a:rPr sz="2025" b="1" i="0">
                <a:solidFill>
                  <a:srgbClr val="14213D"/>
                </a:solidFill>
              </a:rPr>
              <a:t>Agency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C1C7F3-A339-4108-B7D3-75170E4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00450"/>
            <a:ext cx="2476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Create supply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Manage bookings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Message travelers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Withdraw earnings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758B2-DA46-4483-9740-04DFAF49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048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43BCC-7E2A-4D85-A5D0-221C2C52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38450"/>
            <a:ext cx="304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5BC01-F3CE-4CFF-89A3-CED0EBB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4213D"/>
                </a:solidFill>
              </a:defRPr>
            </a:pPr>
            <a:r>
              <a:rPr sz="2025" b="1" i="0">
                <a:solidFill>
                  <a:srgbClr val="14213D"/>
                </a:solidFill>
              </a:rPr>
              <a:t>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9C33D-1309-466F-9604-A5073710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0450"/>
            <a:ext cx="24765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Approve agencies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Monitor finance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Resolve refunds</a:t>
            </a:r>
          </a:p>
          <a:p xmlns:a="http://schemas.openxmlformats.org/drawingml/2006/main">
            <a:pPr>
              <a:defRPr sz="1500" b="0" i="0">
                <a:solidFill>
                  <a:srgbClr val="6C6A61"/>
                </a:solidFill>
              </a:defRPr>
            </a:pPr>
            <a:r>
              <a:rPr sz="1500" b="0" i="0">
                <a:solidFill>
                  <a:srgbClr val="6C6A61"/>
                </a:solidFill>
              </a:rPr>
              <a:t>Govern 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3EF263-34D7-4B8C-BC45-07F6F744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086350"/>
            <a:ext cx="7334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653"/>
          </a:solidFill>
          <a:ln xmlns:a="http://schemas.openxmlformats.org/drawingml/2006/main" w="0">
            <a:solidFill>
              <a:srgbClr val="26465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46A26F-7833-4BD9-8762-F89F92A6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14950"/>
            <a:ext cx="895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Shared capabilities: Auth/RBAC • Trips • Bookings • Payments • Wallet • Reviews • Messaging • Notifications • Analytics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5906EA-14F6-42AC-9D6A-C85D42B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3EE24-2099-45B5-889C-3AFC96D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E8B18F-AE64-42EC-AEEC-8FEA269A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516568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79944-A3E2-421C-8306-C793FE73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D116236-5C89-4B05-B66A-146280B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6B03594-8C82-4651-A4C4-9C1E14A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HARDENING 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10C0D-DBE0-45FB-8D80-C5061F72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4213D"/>
                </a:solidFill>
              </a:defRPr>
            </a:pPr>
            <a:r>
              <a:rPr sz="2550" b="1" i="0">
                <a:solidFill>
                  <a:srgbClr val="14213D"/>
                </a:solidFill>
              </a:rPr>
              <a:t>The second pass attacked deployment blockers first: money precision, distributed safety, and security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13F0B-450A-4F0D-B77C-CF25A01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42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C6A61"/>
                </a:solidFill>
              </a:defRPr>
            </a:pPr>
            <a:r>
              <a:rPr sz="1200" b="0" i="0">
                <a:solidFill>
                  <a:srgbClr val="6C6A61"/>
                </a:solidFill>
              </a:rPr>
              <a:t>The changes are operationally focused: reduce financial correctness risk, make API replicas safe, and make launch readiness auditable.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8EA30-3C22-4EF0-A8ED-8669555D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1CE53-3B7C-450B-AD54-900A5232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Money 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5A081-8E36-4B9F-AD85-634A24C0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62225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Prisma money fields converted to Decimal; API money contract becomes decimal strings; provider minor units use Decimal arithmetic.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0DBBD-1AE7-49BB-B548-CBD68C8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622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DEF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7074B-88E6-4DD4-AE02-BD3BD887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4213D"/>
                </a:solidFill>
              </a:defRPr>
            </a:pPr>
            <a:r>
              <a:rPr sz="900" b="1" i="0">
                <a:solidFill>
                  <a:srgbClr val="14213D"/>
                </a:solidFill>
              </a:rPr>
              <a:t>Fixed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AB237-F61F-46B0-8FD6-17C8027C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DB36C-DC0F-4B52-A598-C2DAD195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Distributed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C1EF1-48A0-459B-A6C4-17E575C6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09925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Redis-backed rate limiting, Redis health checks, BullMQ worker entrypoint, API-local cron removed.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00188C-F558-4F5F-A997-3DB7DF9A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099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DDEF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42C60-C851-4150-8386-3C284CEB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7660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4213D"/>
                </a:solidFill>
              </a:defRPr>
            </a:pPr>
            <a:r>
              <a:rPr sz="900" b="1" i="0">
                <a:solidFill>
                  <a:srgbClr val="14213D"/>
                </a:solidFill>
              </a:rPr>
              <a:t>Fixed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81DA0-1B31-4739-B975-0D63C8B5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5CEE-3B39-4DBB-93A7-6FA9D2E4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Security/RBAC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91FF3-6990-4938-816F-65748F5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Analytics guard gaps fixed; route inventory created; remaining endpoint-by-endpoint authorization failures need full E2E coverage.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2BEF94-199D-4969-A918-86D063C8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BF"/>
          </a:solidFill>
          <a:ln xmlns:a="http://schemas.openxmlformats.org/drawingml/2006/main" w="9525">
            <a:solidFill>
              <a:srgbClr val="F5E7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2A386-7387-4581-AE77-75580DB5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2430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4213D"/>
                </a:solidFill>
              </a:defRPr>
            </a:pPr>
            <a:r>
              <a:rPr sz="900" b="1" i="0">
                <a:solidFill>
                  <a:srgbClr val="14213D"/>
                </a:solidFill>
              </a:rPr>
              <a:t>Partial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92D89-A3F0-4489-9DA4-BFBEA1E1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0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B18C32-2B44-4A87-A5A0-09078E9F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Deployment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4B83B0-3645-42EA-A19A-E98CE2BC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05325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Prod compose example, Docker CMD fix, runbook, managed Postgres/Redis/storage assumption documented.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3B286-D505-4C6B-B487-9EAF36D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053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BF"/>
          </a:solidFill>
          <a:ln xmlns:a="http://schemas.openxmlformats.org/drawingml/2006/main" w="9525">
            <a:solidFill>
              <a:srgbClr val="F5E7B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27130-5A9B-4DED-A48D-2E9EF5FB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7200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4213D"/>
                </a:solidFill>
              </a:defRPr>
            </a:pPr>
            <a:r>
              <a:rPr sz="900" b="1" i="0">
                <a:solidFill>
                  <a:srgbClr val="14213D"/>
                </a:solidFill>
              </a:rPr>
              <a:t>Partial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7F4F5-34AE-4F17-A5D5-F5E7BFDE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93ECED-F4A4-4283-9682-9F9968FA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816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E2E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0F031D-2973-4F3D-AF4A-F197EEB5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53025"/>
            <a:ext cx="581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Unit/app builds pass; full API E2E timed out locally and remains launch verification.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E8ABD8-36F2-47C1-9C53-4F1F881F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53025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C"/>
          </a:solidFill>
          <a:ln xmlns:a="http://schemas.openxmlformats.org/drawingml/2006/main" w="9525">
            <a:solidFill>
              <a:srgbClr val="F2D5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3740AC-297E-4786-8EED-84478250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19700"/>
            <a:ext cx="10096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14213D"/>
                </a:solidFill>
              </a:defRPr>
            </a:pPr>
            <a:r>
              <a:rPr sz="900" b="1" i="0">
                <a:solidFill>
                  <a:srgbClr val="14213D"/>
                </a:solidFill>
              </a:rPr>
              <a:t>Open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5E7E45-B590-43B5-BE91-C61FB722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4A747-3925-445E-98FD-8A9E6054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BD9E6-CD3A-4795-8E27-AF5E8036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9916796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7FADFB-E94E-4FA0-B899-F09BDAA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391BB2B5-B10F-4C97-AFF5-F6947B16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7BFFC515-3F4C-45DB-A5AE-3F1B9E2B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RUNTIME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C67B2-AA04-440C-AF37-3737941C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4213D"/>
                </a:solidFill>
              </a:defRPr>
            </a:pPr>
            <a:r>
              <a:rPr sz="3000" b="1" i="0">
                <a:solidFill>
                  <a:srgbClr val="14213D"/>
                </a:solidFill>
              </a:rPr>
              <a:t>The target runtime separates user traffic from scheduled work and shared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25708-2352-4FD8-ACA2-16448BBD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C6A61"/>
                </a:solidFill>
              </a:defRPr>
            </a:pPr>
            <a:r>
              <a:rPr sz="1275" b="0" i="0">
                <a:solidFill>
                  <a:srgbClr val="6C6A61"/>
                </a:solidFill>
              </a:rPr>
              <a:t>API replicas now rely on Redis for rate limit state, while scheduled maintenance belongs to a worker queue rather than per-replica cron.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61BBE-5552-40B9-AA8F-66EA9274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EA"/>
          </a:solidFill>
          <a:ln xmlns:a="http://schemas.openxmlformats.org/drawingml/2006/main" w="19050">
            <a:solidFill>
              <a:srgbClr val="264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6840D-CFA5-43CA-9958-249A172B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Traveler</a:t>
            </a:r>
          </a:p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Agency</a:t>
            </a:r>
          </a:p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Admin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C2606-A236-445C-82CE-B74315A5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28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6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172B1-490F-4524-BA96-B34AB1E0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09925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NestJS API</a:t>
            </a:r>
          </a:p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/api/v1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71740-F8E4-45D3-A87F-5B8C88A0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19050">
            <a:solidFill>
              <a:srgbClr val="2646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D8CA-452E-4198-84BC-09BD098F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19375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Postgres</a:t>
            </a:r>
          </a:p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Prisma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673B7-8AF2-4B8E-A8D8-82D19A26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766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BF"/>
          </a:solidFill>
          <a:ln xmlns:a="http://schemas.openxmlformats.org/drawingml/2006/main" w="19050">
            <a:solidFill>
              <a:srgbClr val="264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25A47B-2A37-4E21-B6CF-70B153B2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57625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Redis</a:t>
            </a:r>
          </a:p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rate limit +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1BB41-B269-442C-8618-7EBE160A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28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17410-3C77-496F-ADC1-7F2E72A9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16573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BullMQ Worker</a:t>
            </a:r>
          </a:p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reminders + FX + cancels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3FD24B-6CEB-4B64-B157-DD13721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38525"/>
            <a:ext cx="628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97BAFA-2B25-4B37-BB78-D2C24F1A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762000" cy="-3238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739737-9EBC-4AC9-B45C-F35B9808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762000" cy="3238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00E9A-A0CA-4F00-B0EC-A55077A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86225"/>
            <a:ext cx="800100" cy="-6477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D78EC-56D8-4C56-AE81-E8B7268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64C45-035E-4CC7-AA49-4A1B1573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9525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4213D"/>
                </a:solidFill>
              </a:defRPr>
            </a:pPr>
            <a:r>
              <a:rPr sz="1500" b="1" i="0">
                <a:solidFill>
                  <a:srgbClr val="14213D"/>
                </a:solidFill>
              </a:rPr>
              <a:t>Production implication: horizontal API scaling becomes safer only when Redis, worker idempotency, migration discipline, and readiness checks are exercised together.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A6F99-FF2D-446F-9A1C-5D61B71F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FB29E-B5E2-4382-98E3-DE65F7A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EDD607-C1C6-42A3-BA37-84DFCB4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7519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ED6213-B810-4838-887A-393E09A3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8A57001-0165-4C3A-8864-5D62F063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AB75A5A2-B6A1-4CBA-A68D-42F9DA5C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083EC5-A850-434A-990C-0DE233FF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4213D"/>
                </a:solidFill>
              </a:defRPr>
            </a:pPr>
            <a:r>
              <a:rPr sz="3000" b="1" i="0">
                <a:solidFill>
                  <a:srgbClr val="14213D"/>
                </a:solidFill>
              </a:rPr>
              <a:t>Security is now documented as an endpoint inventory, but launch needs failing-authorization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C9A30-4825-4FA1-A888-F3F7EB58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C6A61"/>
                </a:solidFill>
              </a:defRPr>
            </a:pPr>
            <a:r>
              <a:rPr sz="1275" b="0" i="0">
                <a:solidFill>
                  <a:srgbClr val="6C6A61"/>
                </a:solidFill>
              </a:rPr>
              <a:t>The right question is no longer whether RBAC exists; it is whether every route proves auth, role, ownership, pagination, sorting, filtering, and rate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0F705-2FD4-416A-94C3-48A71A73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B6DA-83D7-45E6-B4FB-89CF223D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Auth guard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571FE-6250-45E9-8071-2858D181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2422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JWT boundary on private APIs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C93A8B-16A1-48FF-929B-9AF7AD3E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A9D8F"/>
                </a:solidFill>
              </a:defRPr>
            </a:pPr>
            <a:r>
              <a:rPr sz="825" b="1" i="0">
                <a:solidFill>
                  <a:srgbClr val="2A9D8F"/>
                </a:solidFill>
              </a:rPr>
              <a:t>verify all routes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E22FC-7361-414A-AC10-78633444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956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AC98E-0028-4BD5-8C90-6A90389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Role guard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87065-5F64-4271-ADCE-B0A0DDA1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2422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traveler / agency /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9BE10-7022-4FE4-AD54-B3F7FE2A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A9D8F"/>
                </a:solidFill>
              </a:defRPr>
            </a:pPr>
            <a:r>
              <a:rPr sz="825" b="1" i="0">
                <a:solidFill>
                  <a:srgbClr val="2A9D8F"/>
                </a:solidFill>
              </a:rPr>
              <a:t>analytics fixed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7BB44-499A-4884-92DA-CB243199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956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C46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90DFB-6754-4E0B-AEA1-AA02BF25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0480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Ownership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D0AF93-0C09-4986-8D32-5EA0FB35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2422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tenant + resource owner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A096DF-A86D-4166-AF50-0A3D5DC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needs E2E failures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C14AD-F4EE-406D-BA7B-2B39CF6C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C4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AB9CE7-D79F-4F36-9A78-E2B92101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Pagination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9ACAE-BAFD-4925-9BF8-205E09A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6247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bounded list endpoints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E69710-E66C-43F4-8B5E-176ACE28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81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remaining rollout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7327B-27B2-48C4-8809-73D4955B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9C4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8A421B-02E4-4CDB-903D-C7F03EBE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86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Input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062F5-0F9A-4210-8838-26C8E09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6247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sort allowlists + filters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29ED40-0987-4158-AF41-30894DBD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needs audit closure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94C26-0C9B-4DBF-9073-1D730556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338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E85882-CA85-44DB-B219-50966612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862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Rate limits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9B79E-32E6-4F37-BCD3-3FED0C00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562475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Redis counters by route/user/IP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EB608E-14B5-4A45-BC04-3BB151E7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81550"/>
            <a:ext cx="2476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2A9D8F"/>
                </a:solidFill>
              </a:defRPr>
            </a:pPr>
            <a:r>
              <a:rPr sz="825" b="1" i="0">
                <a:solidFill>
                  <a:srgbClr val="2A9D8F"/>
                </a:solidFill>
              </a:rPr>
              <a:t>production REDIS_URL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49CFA-A79C-42C3-9EC6-0D47C144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A9FC45-3654-46DB-8BB2-AEF2B903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1601B-579C-484A-8FE1-93A809B7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50986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BF4819-264C-46DB-A4B9-5461FE44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9E39B35D-D1CC-4992-98B7-79077F9E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1DEA8E06-75B4-458A-B496-80A39E50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DEMO 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8BC71-7509-425F-9A64-231540C3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4213D"/>
                </a:solidFill>
              </a:defRPr>
            </a:pPr>
            <a:r>
              <a:rPr sz="3000" b="1" i="0">
                <a:solidFill>
                  <a:srgbClr val="14213D"/>
                </a:solidFill>
              </a:rPr>
              <a:t>The controlled demo is seeded and build-verified; full API-backed E2E remains the public-launch gate.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60053-E35E-4809-9978-4DA187E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C6A61"/>
                </a:solidFill>
              </a:defRPr>
            </a:pPr>
            <a:r>
              <a:rPr sz="1275" b="0" i="0">
                <a:solidFill>
                  <a:srgbClr val="6C6A61"/>
                </a:solidFill>
              </a:rPr>
              <a:t>This is the practical readiness view for a stakeholder demo versus a real external production launch.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FE13F-AA6D-4ACF-98A8-F7B6E4B7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13D"/>
                </a:solidFill>
              </a:defRPr>
            </a:pPr>
            <a:r>
              <a:rPr sz="1200" b="1" i="0">
                <a:solidFill>
                  <a:srgbClr val="14213D"/>
                </a:solidFill>
              </a:rPr>
              <a:t>API build + unit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7D8399-95E3-412B-B20F-5545985A6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0"/>
          </a:solidFill>
          <a:ln xmlns:a="http://schemas.openxmlformats.org/drawingml/2006/main" w="0">
            <a:solidFill>
              <a:srgbClr val="E6DFD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06CFD-70D8-4F24-9F30-1285C10E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194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CA975-6130-4349-8F56-ECEF3196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passed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9E4A8-2C1B-44F8-972A-983B1611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13D"/>
                </a:solidFill>
              </a:defRPr>
            </a:pPr>
            <a:r>
              <a:rPr sz="1200" b="1" i="0">
                <a:solidFill>
                  <a:srgbClr val="14213D"/>
                </a:solidFill>
              </a:rPr>
              <a:t>Traveler / Agency / Admin builds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A0443-BF53-4790-ACCA-27712AF5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0"/>
          </a:solidFill>
          <a:ln xmlns:a="http://schemas.openxmlformats.org/drawingml/2006/main" w="0">
            <a:solidFill>
              <a:srgbClr val="E6DF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410A2-0976-437F-B9E7-BE02AEB0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766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986C5-5603-40B8-A691-740F1C4A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289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passed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CA0CB-0A03-4CBB-ADDD-29757F46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957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13D"/>
                </a:solidFill>
              </a:defRPr>
            </a:pPr>
            <a:r>
              <a:rPr sz="1200" b="1" i="0">
                <a:solidFill>
                  <a:srgbClr val="14213D"/>
                </a:solidFill>
              </a:rPr>
              <a:t>Dependency audit high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6C1CD-6081-4885-81A3-83827D66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0"/>
          </a:solidFill>
          <a:ln xmlns:a="http://schemas.openxmlformats.org/drawingml/2006/main" w="0">
            <a:solidFill>
              <a:srgbClr val="E6DFD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E14A6-CE72-4EA2-B754-48EFC374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338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F73DE-5D47-409B-8CF2-B12BDBB4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861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0 findings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16C46-7251-4B1F-A352-9E62F54B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13D"/>
                </a:solidFill>
              </a:defRPr>
            </a:pPr>
            <a:r>
              <a:rPr sz="1200" b="1" i="0">
                <a:solidFill>
                  <a:srgbClr val="14213D"/>
                </a:solidFill>
              </a:rPr>
              <a:t>Seeded demo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66CCB5-DE74-4D86-89E2-F076F110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0"/>
          </a:solidFill>
          <a:ln xmlns:a="http://schemas.openxmlformats.org/drawingml/2006/main" w="0">
            <a:solidFill>
              <a:srgbClr val="E6DFD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A5B6D-1D09-42BC-81C8-76372644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910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59B3C-84F2-4E29-9BD4-88124D0B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433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available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35F85-602D-477B-86A9-3D4F0478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13D"/>
                </a:solidFill>
              </a:defRPr>
            </a:pPr>
            <a:r>
              <a:rPr sz="1200" b="1" i="0">
                <a:solidFill>
                  <a:srgbClr val="14213D"/>
                </a:solidFill>
              </a:rPr>
              <a:t>Root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64D604-EE05-43B0-B67B-37274D0D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0"/>
          </a:solidFill>
          <a:ln xmlns:a="http://schemas.openxmlformats.org/drawingml/2006/main" w="0">
            <a:solidFill>
              <a:srgbClr val="E6DFD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8B753-3175-4793-BE24-A977989F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48200"/>
            <a:ext cx="294894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C46A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EBFCB-2BAD-42BC-BF2F-5438A6BD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005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timed out locally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F8216F-4ED6-4C60-B0A9-98F0C4CC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2762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4213D"/>
                </a:solidFill>
              </a:defRPr>
            </a:pPr>
            <a:r>
              <a:rPr sz="1200" b="1" i="0">
                <a:solidFill>
                  <a:srgbClr val="14213D"/>
                </a:solidFill>
              </a:rPr>
              <a:t>API E2E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D76F6E-795B-4088-B94C-30ED0EAE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4095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FD0"/>
          </a:solidFill>
          <a:ln xmlns:a="http://schemas.openxmlformats.org/drawingml/2006/main" w="0">
            <a:solidFill>
              <a:srgbClr val="E6DFD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01A6E-CA51-4D82-B739-59980677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05400"/>
            <a:ext cx="172021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2A9D8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76C35F-2EFE-44BF-9EC9-EF1996E8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57775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C6A61"/>
                </a:solidFill>
              </a:defRPr>
            </a:pPr>
            <a:r>
              <a:rPr sz="1050" b="0" i="0">
                <a:solidFill>
                  <a:srgbClr val="6C6A61"/>
                </a:solidFill>
              </a:rPr>
              <a:t>not fully verified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ACBB8C-8D86-43D7-8871-FA1D4BDD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F8CF9-7483-4D17-845E-754EBE6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8572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4213D"/>
                </a:solidFill>
              </a:defRPr>
            </a:pPr>
            <a:r>
              <a:rPr sz="1350" b="1" i="0">
                <a:solidFill>
                  <a:srgbClr val="14213D"/>
                </a:solidFill>
              </a:rPr>
              <a:t>Recommendation: use the current state for a controlled MVP demo, but do not open public production until E2E and deployment rehearsal pass cleanly.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8741F3-C2AB-4699-81BA-5E507B0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741080-3FE8-4803-BC7F-5DE143E3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0F7545-EC44-41D7-93A9-5D496921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042551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A38DF-0745-4A1A-9090-EA2C7694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8487C288-3B30-4966-8E8A-64AC5B57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FD8AD2BF-AC6E-4D4C-827E-0A1C375F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LAUNCH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C3A3C-C782-460F-B946-114996D8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4213D"/>
                </a:solidFill>
              </a:defRPr>
            </a:pPr>
            <a:r>
              <a:rPr sz="3000" b="1" i="0">
                <a:solidFill>
                  <a:srgbClr val="14213D"/>
                </a:solidFill>
              </a:rPr>
              <a:t>The remaining production work is a short, concrete launch rehearsal rather than an open-ended rebuild.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FC94E-9F93-4120-BB8C-5353DEAB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C6A61"/>
                </a:solidFill>
              </a:defRPr>
            </a:pPr>
            <a:r>
              <a:rPr sz="1275" b="0" i="0">
                <a:solidFill>
                  <a:srgbClr val="6C6A61"/>
                </a:solidFill>
              </a:rPr>
              <a:t>The sequence must prove the system under production-like conditions: backup, migration, deploy, observe, rollback.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E2B9F-C4A7-4332-A2E9-34B13D60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F83FF-0DF6-4E1B-817F-9C2B9200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E84C05-3E64-427C-9BC7-94972DE6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Freeze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B5596-DF3F-4722-9614-AD540284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52875"/>
            <a:ext cx="91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C6A61"/>
                </a:solidFill>
              </a:defRPr>
            </a:pPr>
            <a:r>
              <a:rPr sz="900" b="0" i="0">
                <a:solidFill>
                  <a:srgbClr val="6C6A61"/>
                </a:solidFill>
              </a:rPr>
              <a:t>lock env + release candidate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61C13-53B0-486C-891B-E160D119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F6934-25B9-4A37-AB8E-A3AC5C2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6682B-5796-4936-B5F4-9171550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2766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12C78-4EB9-46B1-A9FC-B22200CE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38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Back 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9F513-522B-4553-A440-F1F95E87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952875"/>
            <a:ext cx="91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C6A61"/>
                </a:solidFill>
              </a:defRPr>
            </a:pPr>
            <a:r>
              <a:rPr sz="900" b="0" i="0">
                <a:solidFill>
                  <a:srgbClr val="6C6A61"/>
                </a:solidFill>
              </a:rPr>
              <a:t>snapshot Postgres +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2E337-0458-4C39-8487-4AA23BB9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C30AF-449F-452E-8FB6-E4E9096B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E0C2B4-5756-4130-9729-A9CABBC76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766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50172B-F075-4639-B538-5169A15C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38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Migrate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BA4B09-E4E2-4ED6-B2C4-2390FC3D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52875"/>
            <a:ext cx="91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C6A61"/>
                </a:solidFill>
              </a:defRPr>
            </a:pPr>
            <a:r>
              <a:rPr sz="900" b="0" i="0">
                <a:solidFill>
                  <a:srgbClr val="6C6A61"/>
                </a:solidFill>
              </a:rPr>
              <a:t>Prisma migrate deploy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83CF6-5974-4822-82AA-20A17C86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6DF41-49B4-4DCE-A95B-C3D9AA6F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EA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9D606-04BC-497B-97F6-53A9DF29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C05EE0-F637-45AC-9C14-01DD4E73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Deploy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308C92-B547-4E55-A532-A188D5D4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91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C6A61"/>
                </a:solidFill>
              </a:defRPr>
            </a:pPr>
            <a:r>
              <a:rPr sz="900" b="0" i="0">
                <a:solidFill>
                  <a:srgbClr val="6C6A61"/>
                </a:solidFill>
              </a:rPr>
              <a:t>API, worker, three frontends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8DC78-3694-40A3-8729-675D7171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5AC4AD-40EA-4C3A-AA4F-9840E1B1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432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EA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E0816-0EC4-471E-82B9-EDC87D2D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766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38F976-7393-411E-A4A0-B60F4E93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38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Observe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24721A-89D9-43FC-93DD-5640C0A4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52875"/>
            <a:ext cx="91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C6A61"/>
                </a:solidFill>
              </a:defRPr>
            </a:pPr>
            <a:r>
              <a:rPr sz="900" b="0" i="0">
                <a:solidFill>
                  <a:srgbClr val="6C6A61"/>
                </a:solidFill>
              </a:rPr>
              <a:t>logs, health, Redis, DB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835B3E-C691-4B4B-A60A-5710B71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752850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56BC0-2028-47C7-A61A-709E59E6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219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5EA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231208-0D3B-4BCC-9336-DEE77B01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766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3059A8-03FE-40AA-86CF-8AA3E2EA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952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4213D"/>
                </a:solidFill>
              </a:defRPr>
            </a:pPr>
            <a:r>
              <a:rPr sz="1425" b="1" i="0">
                <a:solidFill>
                  <a:srgbClr val="14213D"/>
                </a:solidFill>
              </a:rPr>
              <a:t>Rollback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D2696A-83BE-4334-8DE7-9C1BCB18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952875"/>
            <a:ext cx="914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C6A61"/>
                </a:solidFill>
              </a:defRPr>
            </a:pPr>
            <a:r>
              <a:rPr sz="900" b="0" i="0">
                <a:solidFill>
                  <a:srgbClr val="6C6A61"/>
                </a:solidFill>
              </a:rPr>
              <a:t>exercise documented rollback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19AC2D-4D93-49B1-A9E4-88B85552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7810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4213D"/>
                </a:solidFill>
              </a:defRPr>
            </a:pPr>
            <a:r>
              <a:rPr sz="1575" b="1" i="0">
                <a:solidFill>
                  <a:srgbClr val="14213D"/>
                </a:solidFill>
              </a:rPr>
              <a:t>Blocking proof: a clean run through this sequence on staging with monitoring and rollback evidence attached to the release notes.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3DBEEF-A151-4C55-9930-3EB2DCD7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4A9C8C-B73B-41D8-9A60-6A5DF4EE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5FDE96-3F1D-4821-B1DE-99B7A020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60887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4E382-6EDD-47CF-B811-46A9AA32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FA6CF7A0-800F-4D77-800B-0728BC9F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"/>
            <a:ext cx="266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2591011E-104E-4756-B6FB-9011A4B0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"/>
            <a:ext cx="400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6C6A61"/>
                </a:solidFill>
              </a:defRPr>
            </a:pPr>
            <a:r>
              <a:rPr sz="900" b="1" i="0">
                <a:solidFill>
                  <a:srgbClr val="6C6A61"/>
                </a:solidFill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C8EA4-2006-4E5A-84D2-FEBC6C1A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8858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14213D"/>
                </a:solidFill>
              </a:defRPr>
            </a:pPr>
            <a:r>
              <a:rPr sz="3000" b="1" i="0">
                <a:solidFill>
                  <a:srgbClr val="14213D"/>
                </a:solidFill>
              </a:rPr>
              <a:t>Proceed with a controlled MVP demo; hold public production until four blockers are closed.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B19FE-2B77-4C13-BF09-1E161D31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723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6C6A61"/>
                </a:solidFill>
              </a:defRPr>
            </a:pPr>
            <a:r>
              <a:rPr sz="1275" b="0" i="0">
                <a:solidFill>
                  <a:srgbClr val="6C6A61"/>
                </a:solidFill>
              </a:rPr>
              <a:t>The platform is materially stronger after hardening, but production confidence must be earned through real flows and operational rehearsal.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E6C13-55C1-4533-9940-F8BA9B78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447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1C0A7-B5B5-4215-94BB-9F2E65D8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7180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13D"/>
                </a:solidFill>
              </a:defRPr>
            </a:pPr>
            <a:r>
              <a:rPr sz="1950" b="1" i="0">
                <a:solidFill>
                  <a:srgbClr val="14213D"/>
                </a:solidFill>
              </a:rPr>
              <a:t>Demo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71F92-6491-45A1-9315-0EA8F71E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371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C6A61"/>
                </a:solidFill>
              </a:defRPr>
            </a:pPr>
            <a:r>
              <a:rPr sz="1125" b="0" i="0">
                <a:solidFill>
                  <a:srgbClr val="6C6A61"/>
                </a:solidFill>
              </a:rPr>
              <a:t>Seeded accounts, builds passing, audit clean, core flows ready for guided validation.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4D8E0-B37F-4C98-80DD-0A38BEC7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4476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5CC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AE2B0-7977-4E97-ADDC-906A55FB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13D"/>
                </a:solidFill>
              </a:defRPr>
            </a:pPr>
            <a:r>
              <a:rPr sz="1950" b="1" i="0">
                <a:solidFill>
                  <a:srgbClr val="14213D"/>
                </a:solidFill>
              </a:rPr>
              <a:t>Do not public-launch yet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E65A8-0149-4E20-BBCD-E0FA76D7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71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C6A61"/>
                </a:solidFill>
              </a:defRPr>
            </a:pPr>
            <a:r>
              <a:rPr sz="1125" b="0" i="0">
                <a:solidFill>
                  <a:srgbClr val="6C6A61"/>
                </a:solidFill>
              </a:rPr>
              <a:t>Full API E2E, upload safety, endpoint pagination/RBAC proof, and staging rehearsal are still open.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6BD7D-C60F-40A8-AE27-FC96F0A9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4476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5EF7CB-369E-40D0-8466-0E45FB2C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480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4213D"/>
                </a:solidFill>
              </a:defRPr>
            </a:pPr>
            <a:r>
              <a:rPr sz="1950" b="1" i="0">
                <a:solidFill>
                  <a:srgbClr val="14213D"/>
                </a:solidFill>
              </a:rPr>
              <a:t>Launch blockers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2ADE4-95A7-4802-BAC6-AC976B69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B1FDD-B021-40BA-B109-C82A648E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4213D"/>
                </a:solidFill>
              </a:defRPr>
            </a:pPr>
            <a:r>
              <a:rPr sz="1275" b="0" i="0">
                <a:solidFill>
                  <a:srgbClr val="14213D"/>
                </a:solidFill>
              </a:rPr>
              <a:t>API-backed E2E passes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F36EC-05F8-4928-9353-322F99B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86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1B4C0-C5F3-44CC-B226-8970B8EC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4213D"/>
                </a:solidFill>
              </a:defRPr>
            </a:pPr>
            <a:r>
              <a:rPr sz="1275" b="0" i="0">
                <a:solidFill>
                  <a:srgbClr val="14213D"/>
                </a:solidFill>
              </a:rPr>
              <a:t>Payment webhook replay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BE08E-4C5E-4948-95B1-0D877944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4B5605-0340-4CDD-8C77-6C251365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4213D"/>
                </a:solidFill>
              </a:defRPr>
            </a:pPr>
            <a:r>
              <a:rPr sz="1275" b="0" i="0">
                <a:solidFill>
                  <a:srgbClr val="14213D"/>
                </a:solidFill>
              </a:rPr>
              <a:t>File upload malware/content scanning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11A5B-40A5-4C44-A055-BE5149D0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014A08-9434-40BC-93F6-267ED69E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4213D"/>
                </a:solidFill>
              </a:defRPr>
            </a:pPr>
            <a:r>
              <a:rPr sz="1275" b="0" i="0">
                <a:solidFill>
                  <a:srgbClr val="14213D"/>
                </a:solidFill>
              </a:rPr>
              <a:t>Production migration + rollback rehearsal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5C34E7-A27B-41B0-B8CE-34BBADFE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715000"/>
            <a:ext cx="781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64653"/>
                </a:solidFill>
              </a:defRPr>
            </a:pPr>
            <a:r>
              <a:rPr sz="1875" b="1" i="0">
                <a:solidFill>
                  <a:srgbClr val="264653"/>
                </a:solidFill>
              </a:rPr>
              <a:t>Updated readiness: controlled demo 82% / public production 74%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0EA7D-E29D-4305-8F3B-89E2D543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362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3"/>
          </a:solidFill>
          <a:ln xmlns:a="http://schemas.openxmlformats.org/drawingml/2006/main" w="0">
            <a:solidFill>
              <a:srgbClr val="D8D1C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DE696-68A2-4DB4-965B-C55D4747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38900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Sources: repository docs and hardening execution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B28B3-E65F-43CE-95FF-F308ABD5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2862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C6A61"/>
                </a:solidFill>
              </a:defRPr>
            </a:pPr>
            <a:r>
              <a:rPr sz="750" b="0" i="0">
                <a:solidFill>
                  <a:srgbClr val="6C6A6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21349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2026-06-10T09:41:47.5920000Z</dcterms:created>
  <dcterms:modified xsi:type="dcterms:W3CDTF">2026-06-10T09:41:47.5920000Z</dcterms:modified>
</coreProperties>
</file>